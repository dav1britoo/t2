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Resolução de Problemas com Grafos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Codeforces 449B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Jzzhu and Cities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 com análise de arestas redundantes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4206240"/>
            <a:ext cx="10515600" cy="1828800"/>
          </a:xfrm>
          <a:prstGeom prst="roundRect">
            <a:avLst>
              <a:gd name="adj" fmla="val 5000"/>
            </a:avLst>
          </a:prstGeom>
          <a:solidFill>
            <a:srgbClr val="0F1638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42976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Grupo F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4800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Vitor Silva  •  Antonio Davi  •  Pablo Dornelles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Orientador:  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Me Ricardo Carubbi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5623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Linguagem: 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   •   Plataforma: Codeforces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Prático 2 — Unidade 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O problema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21792" y="1353312"/>
            <a:ext cx="768096" cy="768096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21792" y="135331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32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⬢</a:t>
            </a:r>
            <a:endParaRPr lang="en-US" sz="1932" dirty="0"/>
          </a:p>
        </p:txBody>
      </p:sp>
      <p:sp>
        <p:nvSpPr>
          <p:cNvPr id="5" name="Text 3"/>
          <p:cNvSpPr/>
          <p:nvPr/>
        </p:nvSpPr>
        <p:spPr>
          <a:xfrm>
            <a:off x="1554480" y="13716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468880" y="13716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(capital = 1)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" y="2267712"/>
            <a:ext cx="768096" cy="768096"/>
          </a:xfrm>
          <a:prstGeom prst="ellipse">
            <a:avLst/>
          </a:prstGeom>
          <a:solidFill>
            <a:srgbClr val="F9E795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226771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32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932" dirty="0"/>
          </a:p>
        </p:txBody>
      </p:sp>
      <p:sp>
        <p:nvSpPr>
          <p:cNvPr id="9" name="Text 7"/>
          <p:cNvSpPr/>
          <p:nvPr/>
        </p:nvSpPr>
        <p:spPr>
          <a:xfrm>
            <a:off x="1554480" y="22860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468880" y="22860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estradas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bidirecionais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" y="3182112"/>
            <a:ext cx="768096" cy="76809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318211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32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⇢</a:t>
            </a:r>
            <a:endParaRPr lang="en-US" sz="1932" dirty="0"/>
          </a:p>
        </p:txBody>
      </p:sp>
      <p:sp>
        <p:nvSpPr>
          <p:cNvPr id="13" name="Text 11"/>
          <p:cNvSpPr/>
          <p:nvPr/>
        </p:nvSpPr>
        <p:spPr>
          <a:xfrm>
            <a:off x="1554480" y="32004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2468880" y="32004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capital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5212080" cy="960120"/>
          </a:xfrm>
          <a:prstGeom prst="roundRect">
            <a:avLst>
              <a:gd name="adj" fmla="val 7619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29768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fechar o máximo de trens sem aumentar a distância da capital a nenhuma cidade.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76072" y="5422392"/>
            <a:ext cx="768096" cy="768096"/>
          </a:xfrm>
          <a:prstGeom prst="ellipse">
            <a:avLst/>
          </a:prstGeom>
          <a:solidFill>
            <a:srgbClr val="F9E795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" y="542239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32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32" dirty="0"/>
          </a:p>
        </p:txBody>
      </p:sp>
      <p:sp>
        <p:nvSpPr>
          <p:cNvPr id="19" name="Text 17"/>
          <p:cNvSpPr/>
          <p:nvPr/>
        </p:nvSpPr>
        <p:spPr>
          <a:xfrm>
            <a:off x="1508760" y="553212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trens podem ser fechados  (saída do exemplo 1)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0" y="1188720"/>
            <a:ext cx="5349240" cy="5029200"/>
          </a:xfrm>
          <a:prstGeom prst="roundRect">
            <a:avLst>
              <a:gd name="adj" fmla="val 1455"/>
            </a:avLst>
          </a:prstGeom>
          <a:solidFill>
            <a:srgbClr val="0F1638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01484" y="3703320"/>
            <a:ext cx="1552194" cy="-1375258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94701" y="2869387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53678" y="2328062"/>
            <a:ext cx="753923" cy="1375258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47759" y="2869387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01484" y="3703320"/>
            <a:ext cx="2306117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71662" y="35570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607601" y="3703320"/>
            <a:ext cx="1330452" cy="120335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089947" y="4158691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301484" y="3703320"/>
            <a:ext cx="1552194" cy="1504188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94701" y="430911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301484" y="3703320"/>
            <a:ext cx="2306117" cy="0"/>
          </a:xfrm>
          <a:prstGeom prst="line">
            <a:avLst/>
          </a:prstGeom>
          <a:noFill/>
          <a:ln w="13970">
            <a:solidFill>
              <a:srgbClr val="F96167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7301484" y="3703320"/>
            <a:ext cx="3636569" cy="1203350"/>
          </a:xfrm>
          <a:prstGeom prst="line">
            <a:avLst/>
          </a:prstGeom>
          <a:noFill/>
          <a:ln w="13970">
            <a:solidFill>
              <a:srgbClr val="F96167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7301484" y="3703320"/>
            <a:ext cx="1552194" cy="1504188"/>
          </a:xfrm>
          <a:prstGeom prst="line">
            <a:avLst/>
          </a:prstGeom>
          <a:noFill/>
          <a:ln w="13970">
            <a:solidFill>
              <a:srgbClr val="F96167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7100316" y="3502152"/>
            <a:ext cx="402336" cy="402336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00316" y="34930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8652510" y="2126894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52510" y="21177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406433" y="3502152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406433" y="34930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10736885" y="4705502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736885" y="469635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8652510" y="5006340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652510" y="49971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583680" y="1325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Exemplo 1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6629400" y="5852160"/>
            <a:ext cx="54864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69480" y="571500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estrada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503920" y="5852160"/>
            <a:ext cx="54864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9144000" y="57150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 (da capital)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Do enunciado ao grafo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imagem cresce em três etapas: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749040" cy="4846320"/>
          </a:xfrm>
          <a:prstGeom prst="roundRect">
            <a:avLst>
              <a:gd name="adj" fmla="val 1951"/>
            </a:avLst>
          </a:prstGeom>
          <a:solidFill>
            <a:srgbClr val="0F1638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0876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Cidades → vértices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81482" y="3461918"/>
            <a:ext cx="329184" cy="329184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1482" y="345277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97964" y="2194560"/>
            <a:ext cx="329184" cy="329184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97964" y="218541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73122" y="3461918"/>
            <a:ext cx="329184" cy="329184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73122" y="345277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588106" y="4668926"/>
            <a:ext cx="329184" cy="329184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88106" y="465978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896466" y="4668926"/>
            <a:ext cx="329184" cy="329184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96466" y="465978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nós; cidade 1 é a capital.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61688" y="1417320"/>
            <a:ext cx="3749040" cy="4846320"/>
          </a:xfrm>
          <a:prstGeom prst="roundRect">
            <a:avLst>
              <a:gd name="adj" fmla="val 1951"/>
            </a:avLst>
          </a:prstGeom>
          <a:solidFill>
            <a:srgbClr val="0F1638"/>
          </a:solidFill>
          <a:ln w="25400">
            <a:solidFill>
              <a:srgbClr val="F9E79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4568" y="150876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Estradas → arestas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950562" y="3626510"/>
            <a:ext cx="1116482" cy="-1267358"/>
          </a:xfrm>
          <a:prstGeom prst="line">
            <a:avLst/>
          </a:prstGeom>
          <a:noFill/>
          <a:ln w="15240">
            <a:solidFill>
              <a:srgbClr val="CADC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67044" y="2359152"/>
            <a:ext cx="575158" cy="1267358"/>
          </a:xfrm>
          <a:prstGeom prst="line">
            <a:avLst/>
          </a:prstGeom>
          <a:noFill/>
          <a:ln w="1524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50562" y="3626510"/>
            <a:ext cx="1691640" cy="0"/>
          </a:xfrm>
          <a:prstGeom prst="line">
            <a:avLst/>
          </a:prstGeom>
          <a:noFill/>
          <a:ln w="15240">
            <a:solidFill>
              <a:srgbClr val="CADC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42202" y="3626510"/>
            <a:ext cx="1014984" cy="1207008"/>
          </a:xfrm>
          <a:prstGeom prst="line">
            <a:avLst/>
          </a:prstGeom>
          <a:noFill/>
          <a:ln w="15240">
            <a:solidFill>
              <a:srgbClr val="CADCF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50562" y="3626510"/>
            <a:ext cx="1014984" cy="1207008"/>
          </a:xfrm>
          <a:prstGeom prst="line">
            <a:avLst/>
          </a:prstGeom>
          <a:noFill/>
          <a:ln w="15240">
            <a:solidFill>
              <a:srgbClr val="CADCF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85970" y="3461918"/>
            <a:ext cx="329184" cy="329184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5970" y="345277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02452" y="2194560"/>
            <a:ext cx="329184" cy="329184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02452" y="218541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77610" y="3461918"/>
            <a:ext cx="329184" cy="329184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77610" y="345277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92594" y="4668926"/>
            <a:ext cx="329184" cy="329184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2594" y="465978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800954" y="4668926"/>
            <a:ext cx="329184" cy="329184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00954" y="465978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44568" y="5257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Aresta bidirecional de peso x.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266176" y="1417320"/>
            <a:ext cx="3749040" cy="4846320"/>
          </a:xfrm>
          <a:prstGeom prst="roundRect">
            <a:avLst>
              <a:gd name="adj" fmla="val 1951"/>
            </a:avLst>
          </a:prstGeom>
          <a:solidFill>
            <a:srgbClr val="0F1638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49056" y="150876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Trens → arestas extras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8855050" y="3626510"/>
            <a:ext cx="1116482" cy="-1267358"/>
          </a:xfrm>
          <a:prstGeom prst="line">
            <a:avLst/>
          </a:prstGeom>
          <a:noFill/>
          <a:ln w="15240">
            <a:solidFill>
              <a:srgbClr val="CADCF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971532" y="2359152"/>
            <a:ext cx="575158" cy="1267358"/>
          </a:xfrm>
          <a:prstGeom prst="line">
            <a:avLst/>
          </a:prstGeom>
          <a:noFill/>
          <a:ln w="15240">
            <a:solidFill>
              <a:srgbClr val="CADCF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855050" y="3626510"/>
            <a:ext cx="1691640" cy="0"/>
          </a:xfrm>
          <a:prstGeom prst="line">
            <a:avLst/>
          </a:prstGeom>
          <a:noFill/>
          <a:ln w="15240">
            <a:solidFill>
              <a:srgbClr val="CADCF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546690" y="3626510"/>
            <a:ext cx="1014984" cy="1207008"/>
          </a:xfrm>
          <a:prstGeom prst="line">
            <a:avLst/>
          </a:prstGeom>
          <a:noFill/>
          <a:ln w="15240">
            <a:solidFill>
              <a:srgbClr val="CADCF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855050" y="3626510"/>
            <a:ext cx="1014984" cy="1207008"/>
          </a:xfrm>
          <a:prstGeom prst="line">
            <a:avLst/>
          </a:prstGeom>
          <a:noFill/>
          <a:ln w="15240">
            <a:solidFill>
              <a:srgbClr val="CADCF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855050" y="3626510"/>
            <a:ext cx="1691640" cy="0"/>
          </a:xfrm>
          <a:prstGeom prst="line">
            <a:avLst/>
          </a:prstGeom>
          <a:noFill/>
          <a:ln w="12700">
            <a:solidFill>
              <a:srgbClr val="F96167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855050" y="3626510"/>
            <a:ext cx="2706624" cy="1207008"/>
          </a:xfrm>
          <a:prstGeom prst="line">
            <a:avLst/>
          </a:prstGeom>
          <a:noFill/>
          <a:ln w="12700">
            <a:solidFill>
              <a:srgbClr val="F96167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8855050" y="3626510"/>
            <a:ext cx="1014984" cy="1207008"/>
          </a:xfrm>
          <a:prstGeom prst="line">
            <a:avLst/>
          </a:prstGeom>
          <a:noFill/>
          <a:ln w="12700">
            <a:solidFill>
              <a:srgbClr val="F96167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8690458" y="3461918"/>
            <a:ext cx="329184" cy="329184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90458" y="345277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806940" y="2194560"/>
            <a:ext cx="329184" cy="329184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806940" y="218541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0382098" y="3461918"/>
            <a:ext cx="329184" cy="329184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382098" y="345277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1397082" y="4668926"/>
            <a:ext cx="329184" cy="329184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1397082" y="465978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9705442" y="4668926"/>
            <a:ext cx="329184" cy="329184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705442" y="465978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449056" y="5257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Aresta 1 → s marcada como trem.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Modelagem como grafo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949440" cy="1325880"/>
          </a:xfrm>
          <a:prstGeom prst="roundRect">
            <a:avLst>
              <a:gd name="adj" fmla="val 4138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371600"/>
            <a:ext cx="2468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Estrada (u, v, x)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37560" y="1847088"/>
            <a:ext cx="365760" cy="36576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37560" y="184708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4160520" y="2029968"/>
            <a:ext cx="1005840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71907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977640" y="1847088"/>
            <a:ext cx="365760" cy="36576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77640" y="18379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83480" y="1847088"/>
            <a:ext cx="365760" cy="36576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3480" y="18379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0" y="1371600"/>
            <a:ext cx="18288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aresta bidirecional, peso 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6949440" cy="1325880"/>
          </a:xfrm>
          <a:prstGeom prst="roundRect">
            <a:avLst>
              <a:gd name="adj" fmla="val 4138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834640"/>
            <a:ext cx="2468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Trem (s, y)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337560" y="3310128"/>
            <a:ext cx="365760" cy="36576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37560" y="33101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4160520" y="3493008"/>
            <a:ext cx="1005840" cy="0"/>
          </a:xfrm>
          <a:prstGeom prst="line">
            <a:avLst/>
          </a:prstGeom>
          <a:noFill/>
          <a:ln w="19050">
            <a:solidFill>
              <a:srgbClr val="F96167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480560" y="318211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977640" y="3310128"/>
            <a:ext cx="365760" cy="365760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77640" y="33009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983480" y="3310128"/>
            <a:ext cx="365760" cy="36576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83480" y="33009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0" y="2834640"/>
            <a:ext cx="18288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aresta extra 1 → s, peso 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297680"/>
            <a:ext cx="6949440" cy="1325880"/>
          </a:xfrm>
          <a:prstGeom prst="roundRect">
            <a:avLst>
              <a:gd name="adj" fmla="val 4138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297680"/>
            <a:ext cx="2468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Menores distâncias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337560" y="4773168"/>
            <a:ext cx="365760" cy="36576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37560" y="47731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4425696" y="4718304"/>
            <a:ext cx="475488" cy="475488"/>
          </a:xfrm>
          <a:prstGeom prst="ellipse">
            <a:avLst/>
          </a:prstGeom>
          <a:solidFill>
            <a:srgbClr val="F9E795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25696" y="471830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196" dirty="0"/>
          </a:p>
        </p:txBody>
      </p:sp>
      <p:sp>
        <p:nvSpPr>
          <p:cNvPr id="31" name="Text 29"/>
          <p:cNvSpPr/>
          <p:nvPr/>
        </p:nvSpPr>
        <p:spPr>
          <a:xfrm>
            <a:off x="5486400" y="4297680"/>
            <a:ext cx="18288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 de origem única (vértice 1)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772400" y="1371600"/>
            <a:ext cx="3977640" cy="4526280"/>
          </a:xfrm>
          <a:prstGeom prst="roundRect">
            <a:avLst>
              <a:gd name="adj" fmla="val 1839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955280" y="1508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 Dijkstra?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8001000" y="2212848"/>
            <a:ext cx="548640" cy="5486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001000" y="22128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≥0</a:t>
            </a:r>
            <a:endParaRPr lang="en-US" sz="1380" dirty="0"/>
          </a:p>
        </p:txBody>
      </p:sp>
      <p:sp>
        <p:nvSpPr>
          <p:cNvPr id="36" name="Text 34"/>
          <p:cNvSpPr/>
          <p:nvPr/>
        </p:nvSpPr>
        <p:spPr>
          <a:xfrm>
            <a:off x="8732520" y="21945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não negativos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(x, y ≥ 1)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001000" y="3355848"/>
            <a:ext cx="548640" cy="5486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1000" y="33558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80" dirty="0"/>
          </a:p>
        </p:txBody>
      </p:sp>
      <p:sp>
        <p:nvSpPr>
          <p:cNvPr id="39" name="Text 37"/>
          <p:cNvSpPr/>
          <p:nvPr/>
        </p:nvSpPr>
        <p:spPr>
          <a:xfrm>
            <a:off x="8732520" y="33375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 única: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capital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001000" y="4498848"/>
            <a:ext cx="548640" cy="5486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001000" y="44988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1380" dirty="0"/>
          </a:p>
        </p:txBody>
      </p:sp>
      <p:sp>
        <p:nvSpPr>
          <p:cNvPr id="42" name="Text 40"/>
          <p:cNvSpPr/>
          <p:nvPr/>
        </p:nvSpPr>
        <p:spPr>
          <a:xfrm>
            <a:off x="8732520" y="44805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Trens são só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arestas extras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48640" y="5806440"/>
            <a:ext cx="11201400" cy="594360"/>
          </a:xfrm>
          <a:prstGeom prst="roundRect">
            <a:avLst>
              <a:gd name="adj" fmla="val 7692"/>
            </a:avLst>
          </a:prstGeom>
          <a:solidFill>
            <a:srgbClr val="12193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7240" y="5806440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adj[u] = [ (vizinho, peso, é_trem) ]     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 = n   •   E = 2m + k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Estratégia: Dijkstra + via_estrada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Variação:  </a:t>
            </a:r>
            <a:pPr indent="0" marL="0">
              <a:buNone/>
            </a:pPr>
            <a:r>
              <a:rPr lang="en-US" sz="13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execução de Dijkstra, com uma anotação extra por vértice — sem expansão de estado.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852160" cy="4846320"/>
          </a:xfrm>
          <a:prstGeom prst="roundRect">
            <a:avLst>
              <a:gd name="adj" fmla="val 1509"/>
            </a:avLst>
          </a:prstGeom>
          <a:solidFill>
            <a:srgbClr val="0F1638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087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Relaxar  u → v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737360" y="2743200"/>
            <a:ext cx="320040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154680" y="23957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417320" y="2423160"/>
            <a:ext cx="640080" cy="640080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17320" y="2414016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617720" y="2423160"/>
            <a:ext cx="640080" cy="64008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414016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80160" y="3108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dist[u]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0560" y="3108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dist[v]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3657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nd = dist[u] + w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4251960"/>
            <a:ext cx="5303520" cy="777240"/>
          </a:xfrm>
          <a:prstGeom prst="roundRect">
            <a:avLst>
              <a:gd name="adj" fmla="val 5882"/>
            </a:avLst>
          </a:prstGeom>
          <a:solidFill>
            <a:srgbClr val="1E2761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2519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nd &lt; dist[v]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dist[v]=nd,  via_estrada[v] = (não é trem)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5120640"/>
            <a:ext cx="5303520" cy="777240"/>
          </a:xfrm>
          <a:prstGeom prst="roundRect">
            <a:avLst>
              <a:gd name="adj" fmla="val 5882"/>
            </a:avLst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12064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nd = dist[v] e estrada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via_estrada[v] = True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92240" y="1417320"/>
            <a:ext cx="5257800" cy="1481328"/>
          </a:xfrm>
          <a:prstGeom prst="roundRect">
            <a:avLst>
              <a:gd name="adj" fmla="val 3704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75704" y="1609344"/>
            <a:ext cx="621792" cy="621792"/>
          </a:xfrm>
          <a:prstGeom prst="ellipse">
            <a:avLst/>
          </a:prstGeom>
          <a:solidFill>
            <a:srgbClr val="F9E795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75704" y="160934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64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⛁</a:t>
            </a:r>
            <a:endParaRPr lang="en-US" sz="1564" dirty="0"/>
          </a:p>
        </p:txBody>
      </p:sp>
      <p:sp>
        <p:nvSpPr>
          <p:cNvPr id="22" name="Text 20"/>
          <p:cNvSpPr/>
          <p:nvPr/>
        </p:nvSpPr>
        <p:spPr>
          <a:xfrm>
            <a:off x="7589520" y="155448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Fila de prioridade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589520" y="196596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heapq sempre extrai o vértice de menor distância.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92240" y="3044952"/>
            <a:ext cx="5257800" cy="1481328"/>
          </a:xfrm>
          <a:prstGeom prst="roundRect">
            <a:avLst>
              <a:gd name="adj" fmla="val 3704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75704" y="3236976"/>
            <a:ext cx="621792" cy="62179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75704" y="3236976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64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564" dirty="0"/>
          </a:p>
        </p:txBody>
      </p:sp>
      <p:sp>
        <p:nvSpPr>
          <p:cNvPr id="27" name="Text 25"/>
          <p:cNvSpPr/>
          <p:nvPr/>
        </p:nvSpPr>
        <p:spPr>
          <a:xfrm>
            <a:off x="7589520" y="3182112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Inicialização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589520" y="3593592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dist[1]=0, demais ∞.  via_estrada[1]=True.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92240" y="4672584"/>
            <a:ext cx="5257800" cy="1481328"/>
          </a:xfrm>
          <a:prstGeom prst="roundRect">
            <a:avLst>
              <a:gd name="adj" fmla="val 3704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75704" y="4864608"/>
            <a:ext cx="621792" cy="621792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75704" y="486460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64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564" dirty="0"/>
          </a:p>
        </p:txBody>
      </p:sp>
      <p:sp>
        <p:nvSpPr>
          <p:cNvPr id="32" name="Text 30"/>
          <p:cNvSpPr/>
          <p:nvPr/>
        </p:nvSpPr>
        <p:spPr>
          <a:xfrm>
            <a:off x="7589520" y="4809744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Parada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589520" y="5221224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vazia → dist[] final, com trens já incluídos.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Dijkstra em ação — Exemplo 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669280" cy="5029200"/>
          </a:xfrm>
          <a:prstGeom prst="roundRect">
            <a:avLst>
              <a:gd name="adj" fmla="val 1455"/>
            </a:avLst>
          </a:prstGeom>
          <a:solidFill>
            <a:srgbClr val="0F1638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89888" y="3703320"/>
            <a:ext cx="1664208" cy="-1375258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039112" y="2869387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054096" y="2328062"/>
            <a:ext cx="808330" cy="1375258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75381" y="2869387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389888" y="3703320"/>
            <a:ext cx="2472538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43277" y="35570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862426" y="3703320"/>
            <a:ext cx="1426464" cy="120335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92778" y="4158691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389888" y="3703320"/>
            <a:ext cx="1664208" cy="1504188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39112" y="430911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389888" y="3703320"/>
            <a:ext cx="2472538" cy="0"/>
          </a:xfrm>
          <a:prstGeom prst="line">
            <a:avLst/>
          </a:prstGeom>
          <a:noFill/>
          <a:ln w="13970">
            <a:solidFill>
              <a:srgbClr val="F96167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389888" y="3703320"/>
            <a:ext cx="3899002" cy="1203350"/>
          </a:xfrm>
          <a:prstGeom prst="line">
            <a:avLst/>
          </a:prstGeom>
          <a:noFill/>
          <a:ln w="13970">
            <a:solidFill>
              <a:srgbClr val="F96167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389888" y="3703320"/>
            <a:ext cx="1664208" cy="1504188"/>
          </a:xfrm>
          <a:prstGeom prst="line">
            <a:avLst/>
          </a:prstGeom>
          <a:noFill/>
          <a:ln w="13970">
            <a:solidFill>
              <a:srgbClr val="F96167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188720" y="3502152"/>
            <a:ext cx="402336" cy="402336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0" y="34930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536192" y="3291840"/>
            <a:ext cx="548640" cy="292608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36192" y="327355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852928" y="2126894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52928" y="21177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00400" y="1916582"/>
            <a:ext cx="548640" cy="292608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0" y="1898294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61258" y="3502152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61258" y="34930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008730" y="3291840"/>
            <a:ext cx="548640" cy="292608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08730" y="327355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87722" y="4705502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87722" y="469635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435194" y="4495190"/>
            <a:ext cx="548640" cy="292608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35194" y="447690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852928" y="5006340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52928" y="49971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200400" y="4796028"/>
            <a:ext cx="548640" cy="292608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0" y="477774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13258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Distâncias finais (pílulas douradas)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400800" y="1188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Vetores ao final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0" y="1645920"/>
            <a:ext cx="5349240" cy="1554480"/>
          </a:xfrm>
          <a:prstGeom prst="roundRect">
            <a:avLst>
              <a:gd name="adj" fmla="val 470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29400" y="1783080"/>
            <a:ext cx="4937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índice         1  2  3  4  5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            0  1  3  5  5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via_estrada     T  T  T  </a:t>
            </a:r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400800" y="3429000"/>
            <a:ext cx="5349240" cy="2834640"/>
          </a:xfrm>
          <a:prstGeom prst="roundRect">
            <a:avLst>
              <a:gd name="adj" fmla="val 2581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29400" y="35204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ler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6675120" y="4032504"/>
            <a:ext cx="164592" cy="164592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95160" y="3904488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 2, 3, 5 têm caminho ótimo por estradas.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6675120" y="4782312"/>
            <a:ext cx="164592" cy="16459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95160" y="4654296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a cidade 4 depende do trem (via_estrada = F).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675120" y="5532120"/>
            <a:ext cx="164592" cy="164592"/>
          </a:xfrm>
          <a:prstGeom prst="ellipse">
            <a:avLst/>
          </a:prstGeom>
          <a:solidFill>
            <a:srgbClr val="F9E795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95160" y="5404104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no exemplo, 2 dos 3 trens podem ser fechados.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 Quando fechar cada trem?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2761488" cy="3657600"/>
          </a:xfrm>
          <a:prstGeom prst="roundRect">
            <a:avLst>
              <a:gd name="adj" fmla="val 2649"/>
            </a:avLst>
          </a:prstGeom>
          <a:solidFill>
            <a:srgbClr val="0F1638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35608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Trem inútil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01368"/>
            <a:ext cx="2395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&gt; dist[s]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60120" y="2880360"/>
            <a:ext cx="877824" cy="-5029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37944" y="2377440"/>
            <a:ext cx="877824" cy="5029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93976" y="231800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709928" y="2249424"/>
            <a:ext cx="256032" cy="256032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09928" y="22402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·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60120" y="2880360"/>
            <a:ext cx="1755648" cy="0"/>
          </a:xfrm>
          <a:prstGeom prst="line">
            <a:avLst/>
          </a:prstGeom>
          <a:noFill/>
          <a:ln w="16510">
            <a:solidFill>
              <a:srgbClr val="8A93B8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55064" y="28803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58952" y="2679192"/>
            <a:ext cx="402336" cy="402336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" y="26700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14600" y="2679192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14600" y="26700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4480560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✕ FECHA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291840" y="1325880"/>
            <a:ext cx="2761488" cy="3657600"/>
          </a:xfrm>
          <a:prstGeom prst="roundRect">
            <a:avLst>
              <a:gd name="adj" fmla="val 2649"/>
            </a:avLst>
          </a:prstGeom>
          <a:solidFill>
            <a:srgbClr val="0F1638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1435608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Alternativa por estrada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474720" y="1801368"/>
            <a:ext cx="2395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dist[s], via_estrada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794760" y="2880360"/>
            <a:ext cx="877824" cy="-5029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72584" y="2377440"/>
            <a:ext cx="877824" cy="5029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28616" y="231800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44568" y="2249424"/>
            <a:ext cx="256032" cy="256032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22402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·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794760" y="2880360"/>
            <a:ext cx="1755648" cy="0"/>
          </a:xfrm>
          <a:prstGeom prst="line">
            <a:avLst/>
          </a:prstGeom>
          <a:noFill/>
          <a:ln w="16510">
            <a:solidFill>
              <a:srgbClr val="F96167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4489704" y="28803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593592" y="2679192"/>
            <a:ext cx="402336" cy="402336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93592" y="26700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349240" y="2679192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49240" y="26700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474720" y="4480560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✕ FECHA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126480" y="1325880"/>
            <a:ext cx="2761488" cy="3657600"/>
          </a:xfrm>
          <a:prstGeom prst="roundRect">
            <a:avLst>
              <a:gd name="adj" fmla="val 2649"/>
            </a:avLst>
          </a:prstGeom>
          <a:solidFill>
            <a:srgbClr val="0F1638"/>
          </a:solidFill>
          <a:ln w="25400">
            <a:solidFill>
              <a:srgbClr val="F9E79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09360" y="1435608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Trem essencial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309360" y="1801368"/>
            <a:ext cx="2395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dist[s], sem estrada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629400" y="2880360"/>
            <a:ext cx="1755648" cy="0"/>
          </a:xfrm>
          <a:prstGeom prst="line">
            <a:avLst/>
          </a:prstGeom>
          <a:noFill/>
          <a:ln w="30480">
            <a:solidFill>
              <a:srgbClr val="F96167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7324344" y="28803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28232" y="2679192"/>
            <a:ext cx="402336" cy="402336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26700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183880" y="2679192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83880" y="26700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309360" y="4480560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MANTÉM 1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961120" y="1325880"/>
            <a:ext cx="2761488" cy="3657600"/>
          </a:xfrm>
          <a:prstGeom prst="roundRect">
            <a:avLst>
              <a:gd name="adj" fmla="val 2649"/>
            </a:avLst>
          </a:prstGeom>
          <a:solidFill>
            <a:srgbClr val="0F1638"/>
          </a:solidFill>
          <a:ln w="25400">
            <a:solidFill>
              <a:srgbClr val="8A93B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0" y="1435608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9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Caso impossível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9144000" y="1801368"/>
            <a:ext cx="2395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&lt; dist[s]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9464040" y="2880360"/>
            <a:ext cx="877824" cy="-5029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341864" y="2377440"/>
            <a:ext cx="877824" cy="5029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597896" y="231800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0213848" y="2249424"/>
            <a:ext cx="256032" cy="256032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213848" y="22402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·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464040" y="2880360"/>
            <a:ext cx="1755648" cy="0"/>
          </a:xfrm>
          <a:prstGeom prst="line">
            <a:avLst/>
          </a:prstGeom>
          <a:noFill/>
          <a:ln w="16510">
            <a:solidFill>
              <a:srgbClr val="8A93B8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10158984" y="28803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9262872" y="2679192"/>
            <a:ext cx="402336" cy="402336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262872" y="26700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11018520" y="2679192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1018520" y="26700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9144000" y="4480560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9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não ocorre</a:t>
            </a:r>
            <a:endParaRPr lang="en-US" sz="1500" dirty="0"/>
          </a:p>
        </p:txBody>
      </p:sp>
      <p:sp>
        <p:nvSpPr>
          <p:cNvPr id="58" name="Shape 56"/>
          <p:cNvSpPr/>
          <p:nvPr/>
        </p:nvSpPr>
        <p:spPr>
          <a:xfrm>
            <a:off x="457200" y="5166360"/>
            <a:ext cx="11292840" cy="123444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0080" y="52303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exemplo 1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640080" y="56235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trem (3,5):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&gt; 3 → </a:t>
            </a:r>
            <a:pPr indent="0" marL="0">
              <a:buNone/>
            </a:pPr>
            <a:r>
              <a:rPr lang="en-US" sz="125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fecha       </a:t>
            </a:r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trem (4,5):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= 5, sem estrada → </a:t>
            </a:r>
            <a:pPr indent="0" marL="0">
              <a:buNone/>
            </a:pPr>
            <a:r>
              <a:rPr lang="en-US" sz="125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mantém       </a:t>
            </a:r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trem (5,5):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= 5, há estrada → </a:t>
            </a:r>
            <a:pPr indent="0" marL="0">
              <a:buNone/>
            </a:pPr>
            <a:r>
              <a:rPr lang="en-US" sz="125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fecha</a:t>
            </a:r>
            <a:endParaRPr lang="en-US" sz="1250" dirty="0"/>
          </a:p>
        </p:txBody>
      </p:sp>
      <p:sp>
        <p:nvSpPr>
          <p:cNvPr id="61" name="Shape 5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 Complexidade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6766560" cy="22860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6583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O((V + E) · log V)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51960" cy="2286000"/>
          </a:xfrm>
          <a:prstGeom prst="roundRect">
            <a:avLst>
              <a:gd name="adj" fmla="val 3200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26680" y="14630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 = 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509760" y="14630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vértices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26680" y="212140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 = 2m + k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509760" y="21214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estradas (×2) + trens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26680" y="277977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 V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509760" y="2779776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 binário (heapq)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86200"/>
            <a:ext cx="3712464" cy="2331720"/>
          </a:xfrm>
          <a:prstGeom prst="roundRect">
            <a:avLst>
              <a:gd name="adj" fmla="val 3922"/>
            </a:avLst>
          </a:prstGeom>
          <a:solidFill>
            <a:srgbClr val="0F1638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297680"/>
            <a:ext cx="334670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O(V+E)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40080" y="521208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(adjacência + vetores)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61688" y="3886200"/>
            <a:ext cx="3712464" cy="2331720"/>
          </a:xfrm>
          <a:prstGeom prst="roundRect">
            <a:avLst>
              <a:gd name="adj" fmla="val 3922"/>
            </a:avLst>
          </a:prstGeom>
          <a:solidFill>
            <a:srgbClr val="0F1638"/>
          </a:solidFill>
          <a:ln w="25400">
            <a:solidFill>
              <a:srgbClr val="F9E79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44568" y="4297680"/>
            <a:ext cx="334670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1625 ms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4544568" y="521208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real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(limite 2000 ms)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266176" y="3886200"/>
            <a:ext cx="3712464" cy="2331720"/>
          </a:xfrm>
          <a:prstGeom prst="roundRect">
            <a:avLst>
              <a:gd name="adj" fmla="val 3922"/>
            </a:avLst>
          </a:prstGeom>
          <a:solidFill>
            <a:srgbClr val="0F1638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49056" y="4297680"/>
            <a:ext cx="334670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180 MB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8449056" y="521208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real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(limite 256 MB)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 Casos especiais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712464" cy="2286000"/>
          </a:xfrm>
          <a:prstGeom prst="roundRect">
            <a:avLst>
              <a:gd name="adj" fmla="val 3200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" y="1673352"/>
            <a:ext cx="768096" cy="768096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67335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32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10⁹</a:t>
            </a:r>
            <a:endParaRPr lang="en-US" sz="1932" dirty="0"/>
          </a:p>
        </p:txBody>
      </p:sp>
      <p:sp>
        <p:nvSpPr>
          <p:cNvPr id="6" name="Text 4"/>
          <p:cNvSpPr/>
          <p:nvPr/>
        </p:nvSpPr>
        <p:spPr>
          <a:xfrm>
            <a:off x="1645920" y="16002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Pesos grandes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60604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~10¹⁴ — int do Python (long em Java).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61688" y="1280160"/>
            <a:ext cx="3712464" cy="2286000"/>
          </a:xfrm>
          <a:prstGeom prst="roundRect">
            <a:avLst>
              <a:gd name="adj" fmla="val 3200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7720" y="1673352"/>
            <a:ext cx="768096" cy="76809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167335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32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≡</a:t>
            </a:r>
            <a:endParaRPr lang="en-US" sz="1932" dirty="0"/>
          </a:p>
        </p:txBody>
      </p:sp>
      <p:sp>
        <p:nvSpPr>
          <p:cNvPr id="11" name="Text 9"/>
          <p:cNvSpPr/>
          <p:nvPr/>
        </p:nvSpPr>
        <p:spPr>
          <a:xfrm>
            <a:off x="5550408" y="16002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Trens repetidos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36008" y="260604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 por destino; mantém só o necessário.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66176" y="1280160"/>
            <a:ext cx="3712464" cy="2286000"/>
          </a:xfrm>
          <a:prstGeom prst="roundRect">
            <a:avLst>
              <a:gd name="adj" fmla="val 3200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22208" y="1673352"/>
            <a:ext cx="768096" cy="76809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22208" y="167335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32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∥</a:t>
            </a:r>
            <a:endParaRPr lang="en-US" sz="1932" dirty="0"/>
          </a:p>
        </p:txBody>
      </p:sp>
      <p:sp>
        <p:nvSpPr>
          <p:cNvPr id="16" name="Text 14"/>
          <p:cNvSpPr/>
          <p:nvPr/>
        </p:nvSpPr>
        <p:spPr>
          <a:xfrm>
            <a:off x="9454896" y="16002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Arestas paralelas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540496" y="260604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uma é uma entrada; Dijkstra escolhe.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12464" cy="2286000"/>
          </a:xfrm>
          <a:prstGeom prst="roundRect">
            <a:avLst>
              <a:gd name="adj" fmla="val 3200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187952"/>
            <a:ext cx="768096" cy="76809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418795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32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</a:t>
            </a:r>
            <a:endParaRPr lang="en-US" sz="1932" dirty="0"/>
          </a:p>
        </p:txBody>
      </p:sp>
      <p:sp>
        <p:nvSpPr>
          <p:cNvPr id="21" name="Text 19"/>
          <p:cNvSpPr/>
          <p:nvPr/>
        </p:nvSpPr>
        <p:spPr>
          <a:xfrm>
            <a:off x="1645920" y="41148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Empate trem × estrada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1520" y="512064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via_estrada detecta e fecha o trem.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361688" y="3794760"/>
            <a:ext cx="3712464" cy="2286000"/>
          </a:xfrm>
          <a:prstGeom prst="roundRect">
            <a:avLst>
              <a:gd name="adj" fmla="val 3200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17720" y="4187952"/>
            <a:ext cx="768096" cy="76809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0" y="418795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32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↓</a:t>
            </a:r>
            <a:endParaRPr lang="en-US" sz="1932" dirty="0"/>
          </a:p>
        </p:txBody>
      </p:sp>
      <p:sp>
        <p:nvSpPr>
          <p:cNvPr id="26" name="Text 24"/>
          <p:cNvSpPr/>
          <p:nvPr/>
        </p:nvSpPr>
        <p:spPr>
          <a:xfrm>
            <a:off x="5550408" y="41148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Trem melhora distância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636008" y="512064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só mais uma aresta no Dijkstra.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266176" y="3794760"/>
            <a:ext cx="3712464" cy="2286000"/>
          </a:xfrm>
          <a:prstGeom prst="roundRect">
            <a:avLst>
              <a:gd name="adj" fmla="val 3200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522208" y="4187952"/>
            <a:ext cx="768096" cy="76809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22208" y="418795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32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932" dirty="0"/>
          </a:p>
        </p:txBody>
      </p:sp>
      <p:sp>
        <p:nvSpPr>
          <p:cNvPr id="31" name="Text 29"/>
          <p:cNvSpPr/>
          <p:nvPr/>
        </p:nvSpPr>
        <p:spPr>
          <a:xfrm>
            <a:off x="9454896" y="41148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Sempre conexo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540496" y="512064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dist[v] fica em ∞.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Accepted</a:t>
            </a:r>
            <a:endParaRPr lang="en-US" sz="8000" dirty="0"/>
          </a:p>
        </p:txBody>
      </p:sp>
      <p:sp>
        <p:nvSpPr>
          <p:cNvPr id="5" name="Shape 3"/>
          <p:cNvSpPr/>
          <p:nvPr/>
        </p:nvSpPr>
        <p:spPr>
          <a:xfrm>
            <a:off x="822960" y="246888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0F1638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606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#376408159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05840" y="32461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submissão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80560" y="246888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0F1638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2606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1625 ms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663440" y="32461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(limite 2 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38160" y="246888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0F1638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2606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180 MB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321040" y="32461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(limite 256 MB)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4069080"/>
            <a:ext cx="10515600" cy="2148840"/>
          </a:xfrm>
          <a:prstGeom prst="roundRect">
            <a:avLst>
              <a:gd name="adj" fmla="val 3404"/>
            </a:avLst>
          </a:prstGeom>
          <a:solidFill>
            <a:srgbClr val="0F1638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160520"/>
            <a:ext cx="10149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resumo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05840" y="4663440"/>
            <a:ext cx="10149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Trens são apenas arestas extras a partir da capital.
</a:t>
            </a:r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único Dijkstra + a marca via_estrada já resolve.
</a:t>
            </a:r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Conta-se direto, por destino, quantos trens podem fechar.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  •  Grupo F  •  Codeforces 449B — Jzzhu and Cities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Codeforces 449B - Jzzhu and Cities</dc:title>
  <dc:subject>PptxGenJS Presentation</dc:subject>
  <dc:creator>PptxGenJS</dc:creator>
  <cp:lastModifiedBy>PptxGenJS</cp:lastModifiedBy>
  <cp:revision>1</cp:revision>
  <dcterms:created xsi:type="dcterms:W3CDTF">2026-06-02T12:49:30Z</dcterms:created>
  <dcterms:modified xsi:type="dcterms:W3CDTF">2026-06-02T12:49:30Z</dcterms:modified>
</cp:coreProperties>
</file>